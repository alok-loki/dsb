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63cedfc3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63cedfc3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63cedfc3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63cedfc3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63cedfc3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63cedfc3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63cedfc3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63cedfc3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63cedfc3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63cedfc3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3cedfc3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63cedfc3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63cedfc3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63cedfc3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63cedfc3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63cedfc3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63cedfc3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63cedfc3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80e93f66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80e93f66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0e93f66a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80e93f66a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80e93f66a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80e93f66a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80e93f66a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80e93f66a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80e93f66a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80e93f66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63cedfc3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63cedfc3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63cedfc3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63cedfc3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63cedfc33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63cedfc3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63cedfc33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63cedfc33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317550" y="1238925"/>
            <a:ext cx="8508900" cy="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55"/>
              <a:t>Oil, Gold, and Crypto: How Global Tensions are linked to Commodities</a:t>
            </a:r>
            <a:endParaRPr sz="27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7550" y="2120050"/>
            <a:ext cx="49215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20">
                <a:solidFill>
                  <a:schemeClr val="dk2"/>
                </a:solidFill>
              </a:rPr>
              <a:t>Understanding Global Financial Power Shifts Using Real-World Data</a:t>
            </a:r>
            <a:endParaRPr sz="122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320">
              <a:solidFill>
                <a:schemeClr val="dk2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17550" y="2458375"/>
            <a:ext cx="7105500" cy="25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University of Europe &amp; Avron Global Consultancy Initiative</a:t>
            </a:r>
            <a:b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Winter Semester 2025</a:t>
            </a:r>
            <a:b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Supervisors: Dr./Prof. Anjuman Patil, Prof. E. George</a:t>
            </a:r>
            <a:b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Team  Leader: Alok Sali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Co-Leader : S</a:t>
            </a: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ahil Santosh Dangat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Team Members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Viswas Vinayakumar                                     Saran Jaykumar </a:t>
            </a:r>
            <a:b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</a:b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Anindya Roy Chowdhury                             Deep Adhav         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Apoorv Pilai                                                          Pradeep Singh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Denis sebastian                                                  Abhishek  Vahatule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3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-GB" sz="17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and Research Question</a:t>
            </a:r>
            <a:endParaRPr sz="17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40"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1682550"/>
            <a:ext cx="7688700" cy="3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Rising geopolitical tensions, sanctions, and economic shocks have increased concerns over global dependence on the U.S. Dollar (USD).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Countries are diversifying reserves into gold, energy commodities, and digital assets.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Cryptocurrencies are increasingly used in trade and financial settlements.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Question → 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are global financial power shifts reflected across gold reserves, crude oil trade, cryptocurrency transactions, and currency systems?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Reframed Question → 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the U.S. Dollar (USD) remain the dominant global currency post July 2027?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Impacts global trade and investment decisions</a:t>
            </a:r>
            <a:b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Influences reserve management and hedging strategies</a:t>
            </a:r>
            <a:b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Signals structural changes in the global financial system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586250" y="1426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Sources &amp; Scope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526575" y="2303225"/>
            <a:ext cx="4081500" cy="25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 Used</a:t>
            </a:r>
            <a:endParaRPr b="1"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❖"/>
            </a:pPr>
            <a: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Trade Data — UN Comtrade</a:t>
            </a:r>
            <a:b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❖"/>
            </a:pPr>
            <a: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Crude Oil Trade Data — UN Comtrade</a:t>
            </a:r>
            <a:b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❖"/>
            </a:pPr>
            <a: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Bitcoin Trading Volume — Bitcoinity</a:t>
            </a:r>
            <a:b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❖"/>
            </a:pPr>
            <a: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Currency Share Data — SWIFT RMB Tracker</a:t>
            </a:r>
            <a:endParaRPr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1"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❖"/>
            </a:pPr>
            <a: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Publicly available real-world datasets (CSV)</a:t>
            </a:r>
            <a:b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❖"/>
            </a:pPr>
            <a: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synthetic or simulated data</a:t>
            </a:r>
            <a:b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❖"/>
            </a:pPr>
            <a:r>
              <a:rPr lang="en-GB" sz="12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performed using Excel / Google Sheets</a:t>
            </a:r>
            <a:endParaRPr sz="12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15"/>
          </a:p>
        </p:txBody>
      </p:sp>
      <p:sp>
        <p:nvSpPr>
          <p:cNvPr id="101" name="Google Shape;101;p15"/>
          <p:cNvSpPr txBox="1"/>
          <p:nvPr/>
        </p:nvSpPr>
        <p:spPr>
          <a:xfrm>
            <a:off x="4764250" y="2303225"/>
            <a:ext cx="3971400" cy="25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Time Period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2019 – 2024 (Pre-COVID, COVID, Post-COVID)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Coverage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Gold and oil trade flows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Bitcoin trading volumes by fiat currency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USD vs BRICS currency usage trends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 Overview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47575" y="1853850"/>
            <a:ext cx="4224300" cy="24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A: Data Cleaning &amp; Preparation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import and structure validation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 standardization and unit verification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Missing value, outlier (IQR), and duplicate checks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Creation of clean, analysis-ready datasets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B: Descriptive Analysis (What happened?)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 statistics and pivot-table analysis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Trend analysis across gold, crude oil, and Bitcoin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Comparative analysis (BRICS vs US/EU)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insights using charts and tables</a:t>
            </a:r>
            <a:endParaRPr sz="1200"/>
          </a:p>
        </p:txBody>
      </p:sp>
      <p:sp>
        <p:nvSpPr>
          <p:cNvPr id="108" name="Google Shape;108;p16"/>
          <p:cNvSpPr txBox="1"/>
          <p:nvPr/>
        </p:nvSpPr>
        <p:spPr>
          <a:xfrm>
            <a:off x="4571875" y="1894713"/>
            <a:ext cx="4485900" cy="24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Section C: Exploratory Analysis (Why did it happen?)</a:t>
            </a:r>
            <a:endParaRPr b="1" sz="1200"/>
          </a:p>
          <a:p>
            <a:pPr indent="-3048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Relationship analysis between commodities and currencies</a:t>
            </a:r>
            <a:endParaRPr sz="1200"/>
          </a:p>
          <a:p>
            <a:pPr indent="-3048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Correlation analysis (e.g., gold vs USD strength)</a:t>
            </a:r>
            <a:endParaRPr sz="1200"/>
          </a:p>
          <a:p>
            <a:pPr indent="-3048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Policy and </a:t>
            </a:r>
            <a:r>
              <a:rPr lang="en-GB" sz="1200"/>
              <a:t>macroeconomic</a:t>
            </a:r>
            <a:r>
              <a:rPr lang="en-GB" sz="1200"/>
              <a:t> event interpretation</a:t>
            </a: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Section D: Predictive Analysis (What might happen next?)</a:t>
            </a:r>
            <a:endParaRPr b="1" sz="1200"/>
          </a:p>
          <a:p>
            <a:pPr indent="-3048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Simple forecasting techniques</a:t>
            </a:r>
            <a:endParaRPr sz="1200"/>
          </a:p>
          <a:p>
            <a:pPr indent="-3048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Moving average trend projections</a:t>
            </a:r>
            <a:endParaRPr sz="1200"/>
          </a:p>
          <a:p>
            <a:pPr indent="-3048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Directional insights on future commodity and currency behavior</a:t>
            </a: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72000" y="4391675"/>
            <a:ext cx="8400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Tools Used</a:t>
            </a:r>
            <a:endParaRPr b="1" sz="1200"/>
          </a:p>
          <a:p>
            <a:pPr indent="-3048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Microsoft Excel  and Python (for advanced analysis)</a:t>
            </a: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8364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Section A: Data Cleaning &amp; Preparation (Gold &amp; Crude Oil)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2078875"/>
            <a:ext cx="3710100" cy="29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Import &amp; Validation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Imported gold and crude oil datasets from UN Comtrade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Verified numeric and date fields using </a:t>
            </a:r>
            <a:r>
              <a:rPr lang="en-GB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ISNUMBER()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Annual time variable standardized using </a:t>
            </a:r>
            <a:r>
              <a:rPr lang="en-GB" sz="1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refYear</a:t>
            </a:r>
            <a:endParaRPr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Standardization &amp; Quality Checks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 names standardized for clarity and consistency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Missing values identified (no forced deletion or imputation)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Duplicate records verified using composite keys</a:t>
            </a:r>
            <a:endParaRPr sz="1200"/>
          </a:p>
        </p:txBody>
      </p:sp>
      <p:sp>
        <p:nvSpPr>
          <p:cNvPr id="116" name="Google Shape;116;p17"/>
          <p:cNvSpPr txBox="1"/>
          <p:nvPr/>
        </p:nvSpPr>
        <p:spPr>
          <a:xfrm>
            <a:off x="4572000" y="2078875"/>
            <a:ext cx="39621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Outlier Detection (1.5×IQR)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Applied only to key numeric variables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Gold: Outliers detected due to concentrated exporters (retained)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Oil: No outliers detected, indicating broader distribution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Unit &amp; Dataset Preparation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Gold measured in kilograms (no conversion required)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Oil standardized to barrels (BBL)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Clean, analysis-ready datasets created using Paste → Values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Price Trends &amp; USD Connection</a:t>
            </a:r>
            <a:endParaRPr sz="2300"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668300" y="1922550"/>
            <a:ext cx="4642200" cy="12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Observations (2019–2024)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prices increased during periods of global uncertainty.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a brief correction in 2022, prices rose strongly through 2024.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❖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trend indicates long-term appreciation.</a:t>
            </a:r>
            <a:endParaRPr sz="1200"/>
          </a:p>
        </p:txBody>
      </p:sp>
      <p:sp>
        <p:nvSpPr>
          <p:cNvPr id="123" name="Google Shape;123;p18"/>
          <p:cNvSpPr txBox="1"/>
          <p:nvPr/>
        </p:nvSpPr>
        <p:spPr>
          <a:xfrm>
            <a:off x="5382175" y="1945225"/>
            <a:ext cx="36159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Interpretation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Gold continues to act as a safe-haven asset.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-GB" sz="1200"/>
              <a:t>Rising prices reflect hedging behavior against USD-related risks, not a complete shift away from the dollar.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8" title="newplo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50" y="3289650"/>
            <a:ext cx="8305974" cy="18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656375" y="1270900"/>
            <a:ext cx="7761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Gold Analysis: BRICS vs US vs EU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656375" y="1744725"/>
            <a:ext cx="8330100" cy="1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 → </a:t>
            </a:r>
            <a:r>
              <a:rPr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compare gold accumulation trends across major economic blocs and identify shifts in reserve behavior.</a:t>
            </a:r>
            <a:br>
              <a:rPr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Observations (2019–2024)</a:t>
            </a:r>
            <a:endParaRPr b="1" sz="12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10"/>
              <a:buFont typeface="Arial"/>
              <a:buChar char="❖"/>
            </a:pPr>
            <a:r>
              <a:rPr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BRICS countries show higher volatility and periods of accelerated gold accumulation.</a:t>
            </a:r>
            <a:endParaRPr sz="12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0"/>
              <a:buFont typeface="Arial"/>
              <a:buChar char="❖"/>
            </a:pPr>
            <a:r>
              <a:rPr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 countries exhibit a more stable and consistent gold reserve pattern.</a:t>
            </a:r>
            <a:endParaRPr sz="12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0"/>
              <a:buFont typeface="Arial"/>
              <a:buChar char="❖"/>
            </a:pPr>
            <a:r>
              <a:rPr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US/EU bloc shows limited variation compared to BRICS.</a:t>
            </a:r>
            <a:endParaRPr sz="12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561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❖"/>
            </a:pPr>
            <a:r>
              <a:rPr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gold accumulation trends indicate diverging reserve strategies across blocs.</a:t>
            </a:r>
            <a:endParaRPr sz="1310"/>
          </a:p>
        </p:txBody>
      </p:sp>
      <p:pic>
        <p:nvPicPr>
          <p:cNvPr id="131" name="Google Shape;131;p19" title="Screenshot 2026-01-15 1325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375" y="2995425"/>
            <a:ext cx="8330102" cy="20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27650" y="125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Countries with Largest Increase in Gold Reserves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729450" y="1853850"/>
            <a:ext cx="7688700" cy="1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Observations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reserve growth between 2019–2024 is concentrated among a small number of countries.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Several emerging economies dominate the largest increases.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strategic long-term reserve accumulation.</a:t>
            </a:r>
            <a:endParaRPr sz="1100"/>
          </a:p>
        </p:txBody>
      </p:sp>
      <p:pic>
        <p:nvPicPr>
          <p:cNvPr id="138" name="Google Shape;138;p20" title="Screenshot 2026-01-15 1330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947625"/>
            <a:ext cx="8083010" cy="19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27650" y="1199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Oil Analysis: BRICS vs US vs EU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727650" y="1639050"/>
            <a:ext cx="76887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Observations (2019–2024)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BRICS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oil reserves show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volatility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reflecting geopolitical and market sensitivity.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displays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steadier upward trend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stronger energy security.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remains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relatively stable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with limited reserve expansion.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 → 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Oil trends reveal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diverging energy strategies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with the US strengthening its position while BRICS experience higher exposure to shocks.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1" title="newplot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50" y="3078950"/>
            <a:ext cx="8270175" cy="19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Oil Price Trend &amp; USD Connection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00"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729450" y="1754275"/>
            <a:ext cx="7688700" cy="18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Observations (2019–2024)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Oil prices show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volatility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especially during COVID and geopolitical conflicts.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Sharp price swings reflect supply shocks, sanctions, and production controls.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Oil price movements remain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strongly USD-linked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 global oil trade is USD-denominated.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gold, oil does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act as a stable hedge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against USD risk.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Instead, oil prices amplify geopolitical and currency-related shocks.</a:t>
            </a:r>
            <a:endParaRPr/>
          </a:p>
        </p:txBody>
      </p:sp>
      <p:pic>
        <p:nvPicPr>
          <p:cNvPr id="152" name="Google Shape;152;p22" title="newplot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3472750"/>
            <a:ext cx="8077751" cy="155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746700" y="661175"/>
            <a:ext cx="76506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Bitcoin volume Trend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263025" y="1169375"/>
            <a:ext cx="8683500" cy="15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 Activity (2019–2021):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Bitcoin trading volume on Bitfinex surged during this period, with the highest spikes around 2020. This likely reflects increased market interest during major bull runs and institutional entry. 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Post-2021 Decline: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 steadily declined from 2022 onward, suggesting reduced speculative activity, market saturation, or macroeconomic tightening.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Stabilization Phase (2023–2025):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Trading volume flattens, indicating a shift toward more consistent, possibly institutional or utility-driven trading behavior.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Maturity: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transition from volatility to stability may signal Bitcoin’s evolution from speculative asset to mainstream financial instrument.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Liquidity Planning: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Businesses and exchanges should align infrastructure with lower but steadier volume expectations post-2022.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 rotWithShape="1">
          <a:blip r:embed="rId3">
            <a:alphaModFix/>
          </a:blip>
          <a:srcRect b="3200" l="-3620" r="-1311" t="-8120"/>
          <a:stretch/>
        </p:blipFill>
        <p:spPr>
          <a:xfrm>
            <a:off x="524250" y="2571750"/>
            <a:ext cx="8359326" cy="23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765500" y="607025"/>
            <a:ext cx="7929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Bitcoin Vs USD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518550" y="1266175"/>
            <a:ext cx="8106900" cy="14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Bitcoin Volume Peaks (2019–2021):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Trading volume on Bitfinex surged during this period, likely driven by speculative interest and major bull runs. 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 Decline &amp; Stabilization (2022–2025):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clear downward trend followed by plateauing suggests reduced volatility and possibly more institutional or long-term holding behavior.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 Share Stability: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Despite fluctuations in Bitcoin volume, USD dominance remains relatively stable between 45% and 55%, indicating its entrenched role in global crypto settlements.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Strong Inverse Relationship: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two lines do not show a clear inverse pattern, suggesting that Bitcoin volume and USD share are not negatively correlated — they may move independently or be influenced by broader macroeconomic factors.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USD’s Resilience: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consistent USD share implies that even during crypto surges or declines, USD remains the preferred settlement currency.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Crypto Liquidity Cycles: </a:t>
            </a:r>
            <a:r>
              <a:rPr lang="en-GB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Bitcoin volume spikes may reflect liquidity cycles tied to investor sentiment, regulatory news, or macroeconomic shifts — not necessarily currency share changes.</a:t>
            </a:r>
            <a:endParaRPr sz="4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 rotWithShape="1">
          <a:blip r:embed="rId3">
            <a:alphaModFix/>
          </a:blip>
          <a:srcRect b="0" l="0" r="-1750" t="0"/>
          <a:stretch/>
        </p:blipFill>
        <p:spPr>
          <a:xfrm>
            <a:off x="765500" y="3100375"/>
            <a:ext cx="7859949" cy="20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819550" y="516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Swift Vs Brics Vs Other Currencies (2019- 2025)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569275" y="1183625"/>
            <a:ext cx="7360800" cy="18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 Dominance: 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 Dollar consistently holds the largest share of global payments, fluctuating between 40% and 50%. This underscores its entrenched role as the primary settlement currency worldwide.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BRICS Currencies (Aggregated): 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Despite geopolitical ambitions, BRICS currencies maintain a modest share between 5% and 10%, with minimal upward movement. Their influence remains peripheral in global payment systems.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Currencies Stability: 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share of other currencies remains relatively stable around 25%–30%, suggesting a diversified but non-dominant role in global transactions.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Major Disruptions: 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the 2019–2025 period, none of the currency groups show dramatic shifts, indicating structural stability in global payment preferences.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75" y="2571750"/>
            <a:ext cx="7847124" cy="23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801525" y="516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BTC Dynamics and Fiat Dominance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387750" y="1160425"/>
            <a:ext cx="8449200" cy="23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393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BTC–USD Correlation (Blue Line): </a:t>
            </a:r>
            <a:r>
              <a:rPr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Shows moderate positive correlation in early years, dips sharply in 2023, then rebounds in 2024–2025. Suggests a temporary decoupling in 2023, possibly due to macroeconomic disruptions or crypto-specific volatility.</a:t>
            </a:r>
            <a:endParaRPr sz="4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9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BTC–EUR Correlation (Orange Line): </a:t>
            </a:r>
            <a:r>
              <a:rPr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Peaks in 2023, then drops steeply in 2025.Indicates a short-lived alignment between Bitcoin volume and EUR share, followed by divergence.</a:t>
            </a:r>
            <a:endParaRPr sz="4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9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BTC–Other Currencies Correlation (Green Line): </a:t>
            </a:r>
            <a:r>
              <a:rPr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Peaks in 2023 and gradually declines through 2025.Reflects diminishing influence of smaller fiat currencies on Bitcoin trading volume.</a:t>
            </a:r>
            <a:endParaRPr sz="4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9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USD’s Long-Term Alignment: </a:t>
            </a:r>
            <a:r>
              <a:rPr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Despite volatility, USD maintains the most consistent correlation with Bitcoin volume, reinforcing its role as the anchor currency in crypto markets.</a:t>
            </a:r>
            <a:endParaRPr sz="4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9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EUR and Others: Volatile &amp; Peripheral: </a:t>
            </a:r>
            <a:r>
              <a:rPr lang="en-GB" sz="41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Their inconsistent correlation patterns suggest limited strategic relevance for crypto settlement planning.</a:t>
            </a:r>
            <a:endParaRPr sz="4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 rotWithShape="1">
          <a:blip r:embed="rId3">
            <a:alphaModFix/>
          </a:blip>
          <a:srcRect b="-2124" l="0" r="-786" t="0"/>
          <a:stretch/>
        </p:blipFill>
        <p:spPr>
          <a:xfrm>
            <a:off x="752675" y="2755850"/>
            <a:ext cx="7638649" cy="23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497225" y="580000"/>
            <a:ext cx="8386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Quarterly Shifts in Global Payments Share (2019–2025)</a:t>
            </a:r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443200" y="1205275"/>
            <a:ext cx="4873200" cy="3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29149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 Leads in Volatility: 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 maximum quarterly shift of </a:t>
            </a: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7.64%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US Dollar shows the highest responsiveness to global market dynamics, policy changes, or macroeconomic shocks. </a:t>
            </a:r>
            <a:endParaRPr sz="158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9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EUR Shows Moderate Movement: 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Euro’s largest shift is </a:t>
            </a: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3.74%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moderate volatility — possibly tied to regional economic cycles or regulatory developments.</a:t>
            </a:r>
            <a:endParaRPr sz="158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9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BRICS Aggregated Is Least Volatile: 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</a:t>
            </a: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1.33%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BRICS currencies exhibit minimal quarterly variation, suggesting limited global influence or tightly controlled monetary environments</a:t>
            </a:r>
            <a:endParaRPr sz="158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9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USD’s Dual Role: Dominant &amp; Reactive: 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Its large shift range reflects both its central role and sensitivity to global financial events — making it a key currency for risk monitoring. </a:t>
            </a:r>
            <a:endParaRPr sz="158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9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EUR’s Regional Exposure: 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Moderate shifts imply that while EUR is globally relevant, its influence is more regionally concentrated and less prone to global shocks.</a:t>
            </a:r>
            <a:endParaRPr sz="158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9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BRICS Stability May Signal Rigidity: </a:t>
            </a:r>
            <a:r>
              <a:rPr lang="en-GB" sz="15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volatility could mean either resilience or lack of integration — important for assessing future potential in global payment systems.</a:t>
            </a:r>
            <a:endParaRPr sz="158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600" y="1205275"/>
            <a:ext cx="3265050" cy="290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727650" y="1139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Exploratory Analysis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727650" y="1674850"/>
            <a:ext cx="4772100" cy="24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explain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observed trends in gold, oil, and crypto occurred by identifying key relationships between variables.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Buying vs USD Weakness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shows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relationship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gold purchases and USD strength.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the USD weakens, countries—especially BRICS—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 gold accumulation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Indicates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hedging behavior against USD risk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94" name="Google Shape;194;p28"/>
          <p:cNvSpPr txBox="1"/>
          <p:nvPr/>
        </p:nvSpPr>
        <p:spPr>
          <a:xfrm>
            <a:off x="5620875" y="1674850"/>
            <a:ext cx="3281700" cy="25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/>
              <a:t>Crypto Settlement vs Oil Cargo Size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❖"/>
            </a:pPr>
            <a:r>
              <a:rPr lang="en-GB" sz="1100"/>
              <a:t>Higher crypto settlement activity is associated with </a:t>
            </a:r>
            <a:r>
              <a:rPr b="1" lang="en-GB" sz="1100"/>
              <a:t>smaller oil cargo sizes</a:t>
            </a:r>
            <a:r>
              <a:rPr lang="en-GB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GB" sz="1100"/>
              <a:t>Suggests crypto is mainly used for: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➢"/>
            </a:pPr>
            <a:r>
              <a:rPr lang="en-GB" sz="1100"/>
              <a:t>Pilot trades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➢"/>
            </a:pPr>
            <a:r>
              <a:rPr lang="en-GB" sz="1100"/>
              <a:t>Sanctions </a:t>
            </a:r>
            <a:r>
              <a:rPr lang="en-GB" sz="1100"/>
              <a:t>a</a:t>
            </a:r>
            <a:r>
              <a:rPr lang="en-GB" sz="1100"/>
              <a:t>voidance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➢"/>
            </a:pPr>
            <a:r>
              <a:rPr lang="en-GB" sz="1100"/>
              <a:t>Testing alternative settlement systems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GB" sz="1100"/>
              <a:t>Large shipments still rely on fiat currencies.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727650" y="4166650"/>
            <a:ext cx="4988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/>
              <a:t>Policy Impact: UAE 0% Tax Reform</a:t>
            </a:r>
            <a:endParaRPr b="1" sz="1100"/>
          </a:p>
          <a:p>
            <a:pPr indent="-29845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100"/>
              <a:buChar char="❖"/>
            </a:pPr>
            <a:r>
              <a:rPr lang="en-GB" sz="1100"/>
              <a:t>Post-policy period shows </a:t>
            </a:r>
            <a:r>
              <a:rPr b="1" lang="en-GB" sz="1100"/>
              <a:t>faster growth in BRICS currency usage</a:t>
            </a:r>
            <a:r>
              <a:rPr lang="en-GB" sz="1100"/>
              <a:t>. </a:t>
            </a:r>
            <a:br>
              <a:rPr lang="en-GB" sz="1100"/>
            </a:br>
            <a:r>
              <a:rPr lang="en-GB" sz="1100"/>
              <a:t>Indicates that </a:t>
            </a:r>
            <a:r>
              <a:rPr b="1" lang="en-GB" sz="1100"/>
              <a:t>tax incentives and regulatory policies</a:t>
            </a:r>
            <a:r>
              <a:rPr lang="en-GB" sz="1100"/>
              <a:t> can accelerate non-USD settlements.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716325" y="4200725"/>
            <a:ext cx="32817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Exploratory Insight → </a:t>
            </a:r>
            <a:r>
              <a:rPr lang="en-GB" sz="1100"/>
              <a:t>Currency diversification is driven by a combination of USD risk, transaction constraints, and policy incentives, rather than a single factor.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727650" y="1189875"/>
            <a:ext cx="76887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Predictive Analysis</a:t>
            </a:r>
            <a:endParaRPr/>
          </a:p>
        </p:txBody>
      </p:sp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727650" y="1661175"/>
            <a:ext cx="3998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3-month moving average forecast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to smooth volatility and identify trend direction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 Insights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Upward trend → continued safe-haven demand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Oil: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Stable with mild upward pressure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Bitcoin: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Volatile short-term, rising long-term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BRICS currencies: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Increasing settlement share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USD: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Relative growth slowing</a:t>
            </a:r>
            <a:endParaRPr/>
          </a:p>
        </p:txBody>
      </p:sp>
      <p:sp>
        <p:nvSpPr>
          <p:cNvPr id="203" name="Google Shape;203;p29"/>
          <p:cNvSpPr txBox="1"/>
          <p:nvPr/>
        </p:nvSpPr>
        <p:spPr>
          <a:xfrm>
            <a:off x="799350" y="3922275"/>
            <a:ext cx="39264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Key Takeaway → </a:t>
            </a:r>
            <a:r>
              <a:rPr lang="en-GB" sz="1100"/>
              <a:t>Future global finance points toward gradual de-dollarization, driven by diversification rather than sudden replacement.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4" name="Google Shape;204;p29" title="Screenshot 2026-01-12 at 01.31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150" y="1661175"/>
            <a:ext cx="4113449" cy="28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Findings &amp; Research Answer</a:t>
            </a:r>
            <a:endParaRPr/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accumulation increases during periods of USD weakness.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Oil remains strategically important but is not a stable hedge.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Bitcoin shows growing relevance as a digital alternative.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BRICS currencies are gradually gaining settlement share.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Answer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USD is unlikely to lose dominance abruptly.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evidence points toward a slow transition to a multi-currency global system post-2027.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Policy &amp; Investment Implications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Policymakers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diversified settlement systems.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 rising role of BRICS currencies in regional trade.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 crypto usage in cross-border transactions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Investors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remains a strong hedge against USD risk.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Bitcoin offers diversification but with higher volatility.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Balanced portfolios benefit from asset and currency diversification.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